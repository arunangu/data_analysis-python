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Override1.xml" ContentType="application/vnd.openxmlformats-officedocument.themeOverrid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"/>
  </p:notesMasterIdLst>
  <p:sldIdLst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C801A"/>
    <a:srgbClr val="C14E1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310" autoAdjust="0"/>
  </p:normalViewPr>
  <p:slideViewPr>
    <p:cSldViewPr snapToGrid="0">
      <p:cViewPr varScale="1">
        <p:scale>
          <a:sx n="104" d="100"/>
          <a:sy n="104" d="100"/>
        </p:scale>
        <p:origin x="144" y="2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FD42F7-718C-4B98-AAEC-167E6DDD60A7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B2AA4F-B828-4D7C-AFD3-893933DAFCB4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60510E-4004-4B15-ADB1-176997898CB9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4A1602-6FB4-4F85-A9C5-73C2A1C0A575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60510E-4004-4B15-ADB1-176997898CB9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4A1602-6FB4-4F85-A9C5-73C2A1C0A575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60510E-4004-4B15-ADB1-176997898CB9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4A1602-6FB4-4F85-A9C5-73C2A1C0A575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60510E-4004-4B15-ADB1-176997898CB9}" type="datetimeFigureOut">
              <a:rPr lang="en-IN" smtClean="0"/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4A1602-6FB4-4F85-A9C5-73C2A1C0A575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60510E-4004-4B15-ADB1-176997898CB9}" type="datetimeFigureOut">
              <a:rPr lang="en-IN" smtClean="0"/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4A1602-6FB4-4F85-A9C5-73C2A1C0A575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60510E-4004-4B15-ADB1-176997898CB9}" type="datetimeFigureOut">
              <a:rPr lang="en-IN" smtClean="0"/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4A1602-6FB4-4F85-A9C5-73C2A1C0A575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60510E-4004-4B15-ADB1-176997898CB9}" type="datetimeFigureOut">
              <a:rPr lang="en-IN" smtClean="0"/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4A1602-6FB4-4F85-A9C5-73C2A1C0A575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60510E-4004-4B15-ADB1-176997898CB9}" type="datetimeFigureOut">
              <a:rPr lang="en-IN" smtClean="0"/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4A1602-6FB4-4F85-A9C5-73C2A1C0A575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60510E-4004-4B15-ADB1-176997898CB9}" type="datetimeFigureOut">
              <a:rPr lang="en-IN" smtClean="0"/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4A1602-6FB4-4F85-A9C5-73C2A1C0A575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60510E-4004-4B15-ADB1-176997898CB9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4A1602-6FB4-4F85-A9C5-73C2A1C0A575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60510E-4004-4B15-ADB1-176997898CB9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4A1602-6FB4-4F85-A9C5-73C2A1C0A575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A60510E-4004-4B15-ADB1-176997898CB9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A4A1602-6FB4-4F85-A9C5-73C2A1C0A575}" type="slidenum">
              <a:rPr lang="en-IN" smtClean="0"/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hemeOverride" Target="../theme/themeOverride1.xm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98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40000"/>
              <a:lumOff val="60000"/>
              <a:alpha val="94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TextBox 5"/>
          <p:cNvSpPr txBox="1"/>
          <p:nvPr/>
        </p:nvSpPr>
        <p:spPr>
          <a:xfrm>
            <a:off x="238125" y="1031458"/>
            <a:ext cx="9397221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4000" b="1">
                <a:solidFill>
                  <a:schemeClr val="bg1"/>
                </a:solidFill>
                <a:latin typeface="Lato Black" panose="020F0A02020204030203" pitchFamily="34" charset="0"/>
              </a:defRPr>
            </a:lvl1pPr>
          </a:lstStyle>
          <a:p>
            <a:r>
              <a:rPr lang="en-IN" sz="3200" b="1" dirty="0">
                <a:solidFill>
                  <a:schemeClr val="tx1"/>
                </a:solidFill>
                <a:highlight>
                  <a:srgbClr val="FFFF00"/>
                </a:highlight>
                <a:latin typeface="Lato Black" panose="020F0A02020204030203" pitchFamily="34" charset="0"/>
              </a:rPr>
              <a:t>PROBLEM STATEENT</a:t>
            </a:r>
            <a:endParaRPr lang="en-IN" sz="3200" b="1" dirty="0">
              <a:solidFill>
                <a:schemeClr val="tx1"/>
              </a:solidFill>
              <a:highlight>
                <a:srgbClr val="FFFF00"/>
              </a:highlight>
              <a:latin typeface="Lato Black" panose="020F0A02020204030203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38125" y="1781175"/>
            <a:ext cx="362902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u="sng" kern="100" dirty="0">
                <a:solidFill>
                  <a:schemeClr val="bg1"/>
                </a:solidFill>
                <a:highlight>
                  <a:srgbClr val="008000"/>
                </a:highlight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BRD</a:t>
            </a:r>
            <a:r>
              <a:rPr lang="en-IN" sz="3200" b="1" u="sng" kern="100" dirty="0">
                <a:solidFill>
                  <a:schemeClr val="bg1"/>
                </a:solidFill>
                <a:effectLst/>
                <a:highlight>
                  <a:srgbClr val="008000"/>
                </a:highlight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: KPI’s</a:t>
            </a:r>
            <a:endParaRPr lang="en-IN" sz="3200" kern="100" dirty="0">
              <a:solidFill>
                <a:schemeClr val="bg1"/>
              </a:solidFill>
              <a:effectLst/>
              <a:highlight>
                <a:srgbClr val="008000"/>
              </a:highlight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38125" y="2524125"/>
            <a:ext cx="10248900" cy="27938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Total Sales (₹)</a:t>
            </a:r>
            <a:r>
              <a:rPr lang="en-US" alt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– Overall revenue generated from food orders.</a:t>
            </a:r>
            <a:endParaRPr lang="en-US" altLang="en-US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lvl="0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Average Rating</a:t>
            </a:r>
            <a:r>
              <a:rPr lang="en-US" alt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– Customer satisfaction level across all restaurants.</a:t>
            </a:r>
            <a:endParaRPr lang="en-US" altLang="en-US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lvl="0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Average Order Value (₹)</a:t>
            </a:r>
            <a:r>
              <a:rPr lang="en-US" alt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– Revenue per order.</a:t>
            </a:r>
            <a:endParaRPr lang="en-US" altLang="en-US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lvl="0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Ratings Count</a:t>
            </a:r>
            <a:r>
              <a:rPr lang="en-US" alt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– Total number of customer reviews.</a:t>
            </a:r>
            <a:endParaRPr lang="en-US" altLang="en-US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lvl="0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Total Orders</a:t>
            </a:r>
            <a:r>
              <a:rPr lang="en-US" alt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– Number of food orders received.</a:t>
            </a:r>
            <a:endParaRPr lang="en-US" altLang="en-US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0" y="5367"/>
            <a:ext cx="12192000" cy="826325"/>
          </a:xfrm>
          <a:prstGeom prst="rect">
            <a:avLst/>
          </a:prstGeom>
          <a:solidFill>
            <a:schemeClr val="tx2">
              <a:lumMod val="90000"/>
              <a:lumOff val="10000"/>
              <a:alpha val="94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2" name="Picture 11" descr="A black background with orange letters&#10;&#10;AI-generated content may be incorrect.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7848" y="0"/>
            <a:ext cx="2836304" cy="826325"/>
          </a:xfrm>
          <a:prstGeom prst="rect">
            <a:avLst/>
          </a:prstGeom>
        </p:spPr>
      </p:pic>
      <p:pic>
        <p:nvPicPr>
          <p:cNvPr id="1029" name="Picture 5" descr="Swiggy Social Media Case Study - Starthunt Campaign on TikTok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8575" y="-41354"/>
            <a:ext cx="1092994" cy="11144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40000"/>
              <a:lumOff val="60000"/>
              <a:alpha val="94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TextBox 5"/>
          <p:cNvSpPr txBox="1"/>
          <p:nvPr/>
        </p:nvSpPr>
        <p:spPr>
          <a:xfrm>
            <a:off x="238125" y="1031458"/>
            <a:ext cx="939722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4000" b="1">
                <a:solidFill>
                  <a:schemeClr val="bg1"/>
                </a:solidFill>
                <a:latin typeface="Lato Black" panose="020F0A02020204030203" pitchFamily="34" charset="0"/>
              </a:defRPr>
            </a:lvl1pPr>
          </a:lstStyle>
          <a:p>
            <a:r>
              <a:rPr lang="en-IN" sz="3200" b="1" dirty="0">
                <a:solidFill>
                  <a:schemeClr val="tx1"/>
                </a:solidFill>
                <a:highlight>
                  <a:srgbClr val="FFFF00"/>
                </a:highlight>
                <a:latin typeface="Lato Black" panose="020F0A02020204030203" pitchFamily="34" charset="0"/>
              </a:rPr>
              <a:t>PROBLEM STATEMENT</a:t>
            </a:r>
            <a:endParaRPr lang="en-IN" sz="3200" b="1" dirty="0">
              <a:solidFill>
                <a:schemeClr val="tx1"/>
              </a:solidFill>
              <a:highlight>
                <a:srgbClr val="FFFF00"/>
              </a:highlight>
              <a:latin typeface="Lato Black" panose="020F0A02020204030203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38125" y="1781175"/>
            <a:ext cx="362902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u="sng" kern="100" dirty="0">
                <a:solidFill>
                  <a:schemeClr val="bg1"/>
                </a:solidFill>
                <a:highlight>
                  <a:srgbClr val="008000"/>
                </a:highlight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BRD</a:t>
            </a:r>
            <a:r>
              <a:rPr lang="en-IN" sz="3200" b="1" u="sng" kern="100" dirty="0">
                <a:solidFill>
                  <a:schemeClr val="bg1"/>
                </a:solidFill>
                <a:effectLst/>
                <a:highlight>
                  <a:srgbClr val="008000"/>
                </a:highlight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: CHART’S</a:t>
            </a:r>
            <a:endParaRPr lang="en-IN" sz="3200" kern="100" dirty="0">
              <a:solidFill>
                <a:schemeClr val="bg1"/>
              </a:solidFill>
              <a:effectLst/>
              <a:highlight>
                <a:srgbClr val="008000"/>
              </a:highlight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38124" y="2524125"/>
            <a:ext cx="11706225" cy="28613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Monthly Sales Trend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– Shows how total sales fluctuate month by month.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lvl="0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Daily Sales Trend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– Highlights order and revenue variations across days of the week.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lvl="0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Total Sales by Food Type (Veg vs Non-Veg)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– Compares revenue contribution by cuisine type.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lvl="0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Total Sales by State (Map Visualization)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– Displays state-wise revenue distribution.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lvl="0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Quarterly Performance Summary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– Combines Sales, Ratings, and Orders by Quarter.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lvl="0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Top 5 Cities by Sales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– Identifies leading cities contributing the most revenue.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0" y="5367"/>
            <a:ext cx="12192000" cy="826325"/>
          </a:xfrm>
          <a:prstGeom prst="rect">
            <a:avLst/>
          </a:prstGeom>
          <a:solidFill>
            <a:schemeClr val="tx2">
              <a:lumMod val="90000"/>
              <a:lumOff val="10000"/>
              <a:alpha val="94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2" name="Picture 11" descr="A black background with orange letters&#10;&#10;AI-generated content may be incorrect.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7848" y="0"/>
            <a:ext cx="2836304" cy="826325"/>
          </a:xfrm>
          <a:prstGeom prst="rect">
            <a:avLst/>
          </a:prstGeom>
        </p:spPr>
      </p:pic>
      <p:pic>
        <p:nvPicPr>
          <p:cNvPr id="1029" name="Picture 5" descr="Swiggy Social Media Case Study - Starthunt Campaign on TikTok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8575" y="-41354"/>
            <a:ext cx="1092994" cy="11144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0E2841"/>
    </a:dk2>
    <a:lt2>
      <a:srgbClr val="E8E8E8"/>
    </a:lt2>
    <a:accent1>
      <a:srgbClr val="156082"/>
    </a:accent1>
    <a:accent2>
      <a:srgbClr val="E97132"/>
    </a:accent2>
    <a:accent3>
      <a:srgbClr val="196B24"/>
    </a:accent3>
    <a:accent4>
      <a:srgbClr val="0F9ED5"/>
    </a:accent4>
    <a:accent5>
      <a:srgbClr val="A02B93"/>
    </a:accent5>
    <a:accent6>
      <a:srgbClr val="4EA72E"/>
    </a:accent6>
    <a:hlink>
      <a:srgbClr val="467886"/>
    </a:hlink>
    <a:folHlink>
      <a:srgbClr val="96607D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809</Words>
  <Application>WPS Presentation</Application>
  <PresentationFormat>Widescreen</PresentationFormat>
  <Paragraphs>21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16" baseType="lpstr">
      <vt:lpstr>Arial</vt:lpstr>
      <vt:lpstr>SimSun</vt:lpstr>
      <vt:lpstr>Wingdings</vt:lpstr>
      <vt:lpstr>Lato Black</vt:lpstr>
      <vt:lpstr>OLF SimpleSansOC</vt:lpstr>
      <vt:lpstr>Calibri</vt:lpstr>
      <vt:lpstr>Times New Roman</vt:lpstr>
      <vt:lpstr>Aptos</vt:lpstr>
      <vt:lpstr>Segoe UI</vt:lpstr>
      <vt:lpstr>Microsoft YaHei</vt:lpstr>
      <vt:lpstr>Arial Unicode MS</vt:lpstr>
      <vt:lpstr>Aptos Display</vt:lpstr>
      <vt:lpstr>Segoe UI Variable Display</vt:lpstr>
      <vt:lpstr>Office Theme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Swapnjeet S</dc:creator>
  <cp:lastModifiedBy>Arun Kumar Angu</cp:lastModifiedBy>
  <cp:revision>6</cp:revision>
  <dcterms:created xsi:type="dcterms:W3CDTF">2025-11-10T15:38:00Z</dcterms:created>
  <dcterms:modified xsi:type="dcterms:W3CDTF">2026-02-25T14:36:53Z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622932C6AC2F4A5DAE2A3AA8EFE261DF_12</vt:lpwstr>
  </property>
  <property fmtid="{D5CDD505-2E9C-101B-9397-08002B2CF9AE}" pid="3" name="KSOProductBuildVer">
    <vt:lpwstr>1033-12.2.0.23196</vt:lpwstr>
  </property>
</Properties>
</file>